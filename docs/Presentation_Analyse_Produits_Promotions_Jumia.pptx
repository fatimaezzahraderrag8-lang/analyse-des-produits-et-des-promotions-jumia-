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99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1321" y="1508760"/>
            <a:ext cx="86212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DONNÉES E-COMMERCE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1321" y="1874520"/>
            <a:ext cx="10267159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Produits et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Promotions Jumia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31321" y="3611880"/>
            <a:ext cx="95356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</a:t>
            </a:r>
            <a:r>
              <a:rPr lang="en-US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1463040" cy="54864"/>
          </a:xfrm>
          <a:prstGeom prst="rect">
            <a:avLst/>
          </a:prstGeom>
          <a:solidFill>
            <a:srgbClr val="E85D0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19177" y="4434840"/>
            <a:ext cx="78189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Fatima Ezzahra Derrag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36235" y="5257800"/>
            <a:ext cx="896112" cy="411480"/>
          </a:xfrm>
          <a:prstGeom prst="roundRect">
            <a:avLst>
              <a:gd name="adj" fmla="val 17778"/>
            </a:avLst>
          </a:prstGeom>
          <a:solidFill>
            <a:srgbClr val="2E2E57"/>
          </a:solidFill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-346585" y="5257800"/>
            <a:ext cx="206565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306082" y="52578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2E2E57"/>
          </a:solidFill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8070" y="5257800"/>
            <a:ext cx="25523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27398" y="525780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2E2E57"/>
          </a:solidFill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077198" y="5257800"/>
            <a:ext cx="26045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35486" y="5257800"/>
            <a:ext cx="896112" cy="411480"/>
          </a:xfrm>
          <a:prstGeom prst="roundRect">
            <a:avLst>
              <a:gd name="adj" fmla="val 17778"/>
            </a:avLst>
          </a:prstGeom>
          <a:solidFill>
            <a:srgbClr val="2E2E57"/>
          </a:solidFill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374135" y="5257800"/>
            <a:ext cx="240487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71554" y="5257800"/>
            <a:ext cx="1522209" cy="411480"/>
          </a:xfrm>
          <a:prstGeom prst="roundRect">
            <a:avLst>
              <a:gd name="adj" fmla="val 17778"/>
            </a:avLst>
          </a:prstGeom>
          <a:solidFill>
            <a:srgbClr val="2E2E57"/>
          </a:solidFill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681728" y="5257800"/>
            <a:ext cx="256245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40067" y="5257800"/>
            <a:ext cx="1088136" cy="411480"/>
          </a:xfrm>
          <a:prstGeom prst="roundRect">
            <a:avLst>
              <a:gd name="adj" fmla="val 17778"/>
            </a:avLst>
          </a:prstGeom>
          <a:solidFill>
            <a:srgbClr val="2E2E57"/>
          </a:solidFill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60351" y="5257800"/>
            <a:ext cx="1088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2199EA96-0FF0-C5F4-86C1-3EDE79475B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0" y="1349406"/>
            <a:ext cx="4660777" cy="3773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 brutes aux décisions éclairées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plateformes e-commerce génèrent un volume important de données concernant les produits, les prix, les promotions et les vendeurs.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 </a:t>
            </a:r>
            <a:r>
              <a:rPr lang="en-US" sz="1600" dirty="0" err="1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6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un jeu de données au format CSV a été utilisé comme source de données.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est de transformer ces données en informations exploitables grâce à un processus ETL et à des tableaux de bord interactifs.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38458" y="1440180"/>
            <a:ext cx="1051560" cy="10515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638458" y="1387645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9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3910" dirty="0"/>
          </a:p>
        </p:txBody>
      </p:sp>
      <p:sp>
        <p:nvSpPr>
          <p:cNvPr id="7" name="Text 5"/>
          <p:cNvSpPr/>
          <p:nvPr/>
        </p:nvSpPr>
        <p:spPr>
          <a:xfrm>
            <a:off x="8001000" y="1481587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07370" y="2475350"/>
            <a:ext cx="0" cy="1143000"/>
          </a:xfrm>
          <a:prstGeom prst="line">
            <a:avLst/>
          </a:prstGeom>
          <a:noFill/>
          <a:ln w="25400">
            <a:solidFill>
              <a:srgbClr val="008C8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694530" y="3644186"/>
            <a:ext cx="1051560" cy="10515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694530" y="3638493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9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3910" dirty="0"/>
          </a:p>
        </p:txBody>
      </p:sp>
      <p:sp>
        <p:nvSpPr>
          <p:cNvPr id="11" name="Text 9"/>
          <p:cNvSpPr/>
          <p:nvPr/>
        </p:nvSpPr>
        <p:spPr>
          <a:xfrm>
            <a:off x="8001000" y="3638493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ETL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224623" y="4754880"/>
            <a:ext cx="0" cy="1143000"/>
          </a:xfrm>
          <a:prstGeom prst="line">
            <a:avLst/>
          </a:prstGeom>
          <a:noFill/>
          <a:ln w="25400">
            <a:solidFill>
              <a:srgbClr val="008C8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720409" y="5718796"/>
            <a:ext cx="1051560" cy="10515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20409" y="5713103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9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3910" dirty="0"/>
          </a:p>
        </p:txBody>
      </p:sp>
      <p:sp>
        <p:nvSpPr>
          <p:cNvPr id="15" name="Text 13"/>
          <p:cNvSpPr/>
          <p:nvPr/>
        </p:nvSpPr>
        <p:spPr>
          <a:xfrm>
            <a:off x="8001000" y="5723972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 ProJet vise à accomplir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2221992"/>
            <a:ext cx="640080" cy="64008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22037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38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un jeu de données au format CSV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0" y="19659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355080" y="2221992"/>
            <a:ext cx="640080" cy="64008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55080" y="22037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380" dirty="0"/>
          </a:p>
        </p:txBody>
      </p:sp>
      <p:sp>
        <p:nvSpPr>
          <p:cNvPr id="11" name="Text 9"/>
          <p:cNvSpPr/>
          <p:nvPr/>
        </p:nvSpPr>
        <p:spPr>
          <a:xfrm>
            <a:off x="7178040" y="19659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Nettoyer et préparer les données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77240" y="3593592"/>
            <a:ext cx="640080" cy="64008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77240" y="35753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380" dirty="0"/>
          </a:p>
        </p:txBody>
      </p:sp>
      <p:sp>
        <p:nvSpPr>
          <p:cNvPr id="15" name="Text 13"/>
          <p:cNvSpPr/>
          <p:nvPr/>
        </p:nvSpPr>
        <p:spPr>
          <a:xfrm>
            <a:off x="1600200" y="33375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un–Data Warehouse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33375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355080" y="3593592"/>
            <a:ext cx="640080" cy="64008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355080" y="35753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380" dirty="0"/>
          </a:p>
        </p:txBody>
      </p:sp>
      <p:sp>
        <p:nvSpPr>
          <p:cNvPr id="19" name="Text 17"/>
          <p:cNvSpPr/>
          <p:nvPr/>
        </p:nvSpPr>
        <p:spPr>
          <a:xfrm>
            <a:off x="7178040" y="33375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 pipeline ETL avec Apache Airflow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77240" y="4965192"/>
            <a:ext cx="640080" cy="64008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77240" y="49469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380" dirty="0"/>
          </a:p>
        </p:txBody>
      </p:sp>
      <p:sp>
        <p:nvSpPr>
          <p:cNvPr id="23" name="Text 21"/>
          <p:cNvSpPr/>
          <p:nvPr/>
        </p:nvSpPr>
        <p:spPr>
          <a:xfrm>
            <a:off x="1600200" y="4709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tableaux de bord interactifs avec Power BI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26480" y="470916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F7F7F9"/>
          </a:solidFill>
          <a:ln/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355080" y="4965192"/>
            <a:ext cx="640080" cy="64008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355080" y="49469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8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380" dirty="0"/>
          </a:p>
        </p:txBody>
      </p:sp>
      <p:sp>
        <p:nvSpPr>
          <p:cNvPr id="27" name="Text 25"/>
          <p:cNvSpPr/>
          <p:nvPr/>
        </p:nvSpPr>
        <p:spPr>
          <a:xfrm>
            <a:off x="7178040" y="4709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Faciliter l'analyse des produits, promotions et vendeurs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globale du ProJet BI</a:t>
            </a:r>
            <a:endParaRPr lang="en-US" sz="34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3298" y="1241289"/>
            <a:ext cx="11350062" cy="52724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utilisées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2600" y="21488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7F7F9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528420" y="2404872"/>
            <a:ext cx="822960" cy="8229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528420" y="23865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3060" dirty="0"/>
          </a:p>
        </p:txBody>
      </p:sp>
      <p:sp>
        <p:nvSpPr>
          <p:cNvPr id="7" name="Text 5"/>
          <p:cNvSpPr/>
          <p:nvPr/>
        </p:nvSpPr>
        <p:spPr>
          <a:xfrm>
            <a:off x="682600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53232" y="21488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7F7F9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299052" y="2404872"/>
            <a:ext cx="822960" cy="8229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299052" y="23865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</a:t>
            </a:r>
            <a:endParaRPr lang="en-US" sz="3060" dirty="0"/>
          </a:p>
        </p:txBody>
      </p:sp>
      <p:sp>
        <p:nvSpPr>
          <p:cNvPr id="11" name="Text 9"/>
          <p:cNvSpPr/>
          <p:nvPr/>
        </p:nvSpPr>
        <p:spPr>
          <a:xfrm>
            <a:off x="3453232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23864" y="21488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7F7F9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7069684" y="2404872"/>
            <a:ext cx="822960" cy="8229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069684" y="23865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</a:t>
            </a:r>
            <a:endParaRPr lang="en-US" sz="3060" dirty="0"/>
          </a:p>
        </p:txBody>
      </p:sp>
      <p:sp>
        <p:nvSpPr>
          <p:cNvPr id="15" name="Text 13"/>
          <p:cNvSpPr/>
          <p:nvPr/>
        </p:nvSpPr>
        <p:spPr>
          <a:xfrm>
            <a:off x="6223864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94496" y="21488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7F7F9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9840316" y="2404872"/>
            <a:ext cx="822960" cy="8229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9840316" y="23865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</a:t>
            </a:r>
            <a:endParaRPr lang="en-US" sz="3060" dirty="0"/>
          </a:p>
        </p:txBody>
      </p:sp>
      <p:sp>
        <p:nvSpPr>
          <p:cNvPr id="19" name="Text 17"/>
          <p:cNvSpPr/>
          <p:nvPr/>
        </p:nvSpPr>
        <p:spPr>
          <a:xfrm>
            <a:off x="8994496" y="3291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2600" y="4206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7F7F9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528420" y="4462272"/>
            <a:ext cx="822960" cy="8229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528420" y="44439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3060" dirty="0"/>
          </a:p>
        </p:txBody>
      </p:sp>
      <p:sp>
        <p:nvSpPr>
          <p:cNvPr id="23" name="Text 21"/>
          <p:cNvSpPr/>
          <p:nvPr/>
        </p:nvSpPr>
        <p:spPr>
          <a:xfrm>
            <a:off x="682600" y="5349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53232" y="4206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7F7F9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299052" y="4462272"/>
            <a:ext cx="822960" cy="8229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299052" y="44439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</a:t>
            </a:r>
            <a:endParaRPr lang="en-US" sz="3060" dirty="0"/>
          </a:p>
        </p:txBody>
      </p:sp>
      <p:sp>
        <p:nvSpPr>
          <p:cNvPr id="27" name="Text 25"/>
          <p:cNvSpPr/>
          <p:nvPr/>
        </p:nvSpPr>
        <p:spPr>
          <a:xfrm>
            <a:off x="3453232" y="5349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23864" y="4206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7F7F9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069684" y="4462272"/>
            <a:ext cx="822960" cy="8229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069684" y="44439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060" dirty="0"/>
          </a:p>
        </p:txBody>
      </p:sp>
      <p:sp>
        <p:nvSpPr>
          <p:cNvPr id="31" name="Text 29"/>
          <p:cNvSpPr/>
          <p:nvPr/>
        </p:nvSpPr>
        <p:spPr>
          <a:xfrm>
            <a:off x="6223864" y="5349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94496" y="420624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7F7F9"/>
          </a:solidFill>
          <a:ln/>
          <a:effectLst>
            <a:outerShdw blurRad="635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9840316" y="4462272"/>
            <a:ext cx="822960" cy="8229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9840316" y="444398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6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3060" dirty="0"/>
          </a:p>
        </p:txBody>
      </p:sp>
      <p:sp>
        <p:nvSpPr>
          <p:cNvPr id="35" name="Text 33"/>
          <p:cNvSpPr/>
          <p:nvPr/>
        </p:nvSpPr>
        <p:spPr>
          <a:xfrm>
            <a:off x="8994496" y="53492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ETL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685800" y="22585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données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le fichier 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514600" y="3108960"/>
            <a:ext cx="316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0754" y="214884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967914" y="22585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67913" y="2834640"/>
            <a:ext cx="196595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967914" y="35661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Importation dans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96714" y="3108960"/>
            <a:ext cx="316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12868" y="214884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250028" y="22585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50028" y="2834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50028" y="35661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Doublons, valeurs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manquantes, types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78828" y="3108960"/>
            <a:ext cx="316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94981" y="214884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532141" y="22585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8C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532141" y="2834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532141" y="35661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Category,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Level, Popularity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360941" y="3108960"/>
            <a:ext cx="31615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77095" y="2148840"/>
            <a:ext cx="1965960" cy="2468880"/>
          </a:xfrm>
          <a:prstGeom prst="roundRect">
            <a:avLst>
              <a:gd name="adj" fmla="val 5581"/>
            </a:avLst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814255" y="22585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814255" y="283464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DW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814255" y="35661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 dimensions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table de faits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Warehouse — Schéma en étoile</a:t>
            </a:r>
            <a:endParaRPr lang="en-US" sz="34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19" y="1342443"/>
            <a:ext cx="11000405" cy="46077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419088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organiser les données selon un modèle en étoile afin de faciliter les analyses multidimensionnelles.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Générale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une vue globale des produits Jumia : volumes, prix et promotions en un coup d'œil.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94360" cy="5943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8620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210" dirty="0"/>
          </a:p>
        </p:txBody>
      </p:sp>
      <p:sp>
        <p:nvSpPr>
          <p:cNvPr id="8" name="Text 6"/>
          <p:cNvSpPr/>
          <p:nvPr/>
        </p:nvSpPr>
        <p:spPr>
          <a:xfrm>
            <a:off x="1280160" y="2807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Produits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39593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10" dirty="0"/>
          </a:p>
        </p:txBody>
      </p:sp>
      <p:sp>
        <p:nvSpPr>
          <p:cNvPr id="12" name="Text 10"/>
          <p:cNvSpPr/>
          <p:nvPr/>
        </p:nvSpPr>
        <p:spPr>
          <a:xfrm>
            <a:off x="1280160" y="3904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446,02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 (DH)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594360" cy="5943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50566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10" dirty="0"/>
          </a:p>
        </p:txBody>
      </p:sp>
      <p:sp>
        <p:nvSpPr>
          <p:cNvPr id="16" name="Text 14"/>
          <p:cNvSpPr/>
          <p:nvPr/>
        </p:nvSpPr>
        <p:spPr>
          <a:xfrm>
            <a:off x="1280160" y="5001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5440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6062472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60304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2210" dirty="0"/>
          </a:p>
        </p:txBody>
      </p:sp>
      <p:sp>
        <p:nvSpPr>
          <p:cNvPr id="20" name="Text 18"/>
          <p:cNvSpPr/>
          <p:nvPr/>
        </p:nvSpPr>
        <p:spPr>
          <a:xfrm>
            <a:off x="1280160" y="6099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64785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Promotion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70248" y="1463040"/>
            <a:ext cx="7425099" cy="4855464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12700">
            <a:solidFill>
              <a:srgbClr val="E2E2E8"/>
            </a:solidFill>
            <a:prstDash val="solid"/>
          </a:ln>
          <a:effectLst>
            <a:outerShdw blurRad="101600" dist="38100" dir="54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3" name="Image 0" descr="/mnt/user-data/uploads/dashboa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36192"/>
            <a:ext cx="7278795" cy="47091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>
              <a:solidFill>
                <a:srgbClr val="6B6B7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Prix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en détail la distribution des prix, leurs écarts et leur lien avec la satisfaction.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94360" cy="5943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8620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10" dirty="0"/>
          </a:p>
        </p:txBody>
      </p:sp>
      <p:sp>
        <p:nvSpPr>
          <p:cNvPr id="8" name="Text 6"/>
          <p:cNvSpPr/>
          <p:nvPr/>
        </p:nvSpPr>
        <p:spPr>
          <a:xfrm>
            <a:off x="1280160" y="2807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446,02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Moyen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39593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210" dirty="0"/>
          </a:p>
        </p:txBody>
      </p:sp>
      <p:sp>
        <p:nvSpPr>
          <p:cNvPr id="12" name="Text 10"/>
          <p:cNvSpPr/>
          <p:nvPr/>
        </p:nvSpPr>
        <p:spPr>
          <a:xfrm>
            <a:off x="1280160" y="3904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3,22K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Maximum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594360" cy="5943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50566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210" dirty="0"/>
          </a:p>
        </p:txBody>
      </p:sp>
      <p:sp>
        <p:nvSpPr>
          <p:cNvPr id="16" name="Text 14"/>
          <p:cNvSpPr/>
          <p:nvPr/>
        </p:nvSpPr>
        <p:spPr>
          <a:xfrm>
            <a:off x="1280160" y="5001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5440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Minimum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6172200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48640" y="61539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210" dirty="0"/>
          </a:p>
        </p:txBody>
      </p:sp>
      <p:sp>
        <p:nvSpPr>
          <p:cNvPr id="20" name="Text 18"/>
          <p:cNvSpPr/>
          <p:nvPr/>
        </p:nvSpPr>
        <p:spPr>
          <a:xfrm>
            <a:off x="1280160" y="6099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35,93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</a:t>
            </a: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Moyenne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70248" y="1463040"/>
            <a:ext cx="7425099" cy="4855464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12700">
            <a:solidFill>
              <a:srgbClr val="E2E2E8"/>
            </a:solidFill>
            <a:prstDash val="solid"/>
          </a:ln>
          <a:effectLst>
            <a:outerShdw blurRad="101600" dist="38100" dir="54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3" name="Image 0" descr="/mnt/user-data/uploads/dashbo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36192"/>
            <a:ext cx="7278795" cy="470916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des Promotions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l'ampleur et l'impact des réductions appliquées sur les produits Jumia.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94360" cy="5943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8620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</a:t>
            </a:r>
            <a:endParaRPr lang="en-US" sz="2210" dirty="0"/>
          </a:p>
        </p:txBody>
      </p:sp>
      <p:sp>
        <p:nvSpPr>
          <p:cNvPr id="8" name="Text 6"/>
          <p:cNvSpPr/>
          <p:nvPr/>
        </p:nvSpPr>
        <p:spPr>
          <a:xfrm>
            <a:off x="1280160" y="2807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en Promotion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39593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10" dirty="0"/>
          </a:p>
        </p:txBody>
      </p:sp>
      <p:sp>
        <p:nvSpPr>
          <p:cNvPr id="12" name="Text 10"/>
          <p:cNvSpPr/>
          <p:nvPr/>
        </p:nvSpPr>
        <p:spPr>
          <a:xfrm>
            <a:off x="1280160" y="3904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35,93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Moyenne (%)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594360" cy="5943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50566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10" dirty="0"/>
          </a:p>
        </p:txBody>
      </p:sp>
      <p:sp>
        <p:nvSpPr>
          <p:cNvPr id="16" name="Text 14"/>
          <p:cNvSpPr/>
          <p:nvPr/>
        </p:nvSpPr>
        <p:spPr>
          <a:xfrm>
            <a:off x="1280160" y="5001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5440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Maximale (%)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70248" y="1463040"/>
            <a:ext cx="7425099" cy="4855464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12700">
            <a:solidFill>
              <a:srgbClr val="E2E2E8"/>
            </a:solidFill>
            <a:prstDash val="solid"/>
          </a:ln>
          <a:effectLst>
            <a:outerShdw blurRad="101600" dist="38100" dir="54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0" descr="/mnt/user-data/uploads/dashboar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36192"/>
            <a:ext cx="7278795" cy="47091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 Client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satisfaction des clients à travers les notes et les avis vérifiés.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94360" cy="5943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8620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10" dirty="0"/>
          </a:p>
        </p:txBody>
      </p:sp>
      <p:sp>
        <p:nvSpPr>
          <p:cNvPr id="8" name="Text 6"/>
          <p:cNvSpPr/>
          <p:nvPr/>
        </p:nvSpPr>
        <p:spPr>
          <a:xfrm>
            <a:off x="1280160" y="2807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Moyenne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39593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2210" dirty="0"/>
          </a:p>
        </p:txBody>
      </p:sp>
      <p:sp>
        <p:nvSpPr>
          <p:cNvPr id="12" name="Text 10"/>
          <p:cNvSpPr/>
          <p:nvPr/>
        </p:nvSpPr>
        <p:spPr>
          <a:xfrm>
            <a:off x="1280160" y="3904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3,20K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Vérifiés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594360" cy="5943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50566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☺</a:t>
            </a:r>
            <a:endParaRPr lang="en-US" sz="2210" dirty="0"/>
          </a:p>
        </p:txBody>
      </p:sp>
      <p:sp>
        <p:nvSpPr>
          <p:cNvPr id="16" name="Text 14"/>
          <p:cNvSpPr/>
          <p:nvPr/>
        </p:nvSpPr>
        <p:spPr>
          <a:xfrm>
            <a:off x="1280160" y="5001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5440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Bien Notés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70248" y="1463040"/>
            <a:ext cx="7425099" cy="4855464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12700">
            <a:solidFill>
              <a:srgbClr val="E2E2E8"/>
            </a:solidFill>
            <a:prstDash val="solid"/>
          </a:ln>
          <a:effectLst>
            <a:outerShdw blurRad="101600" dist="38100" dir="54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0" descr="/mnt/user-data/uploads/dashboar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36192"/>
            <a:ext cx="7278795" cy="47091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des Vendeurs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la performance et l'engagement des vendeurs sur la plateforme.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94360" cy="5943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286207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2210" dirty="0"/>
          </a:p>
        </p:txBody>
      </p:sp>
      <p:sp>
        <p:nvSpPr>
          <p:cNvPr id="8" name="Text 6"/>
          <p:cNvSpPr/>
          <p:nvPr/>
        </p:nvSpPr>
        <p:spPr>
          <a:xfrm>
            <a:off x="1280160" y="28072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Vendeurs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39593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10" dirty="0"/>
          </a:p>
        </p:txBody>
      </p:sp>
      <p:sp>
        <p:nvSpPr>
          <p:cNvPr id="12" name="Text 10"/>
          <p:cNvSpPr/>
          <p:nvPr/>
        </p:nvSpPr>
        <p:spPr>
          <a:xfrm>
            <a:off x="1280160" y="3904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4,40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Vendeur Moyen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594360" cy="594360"/>
          </a:xfrm>
          <a:prstGeom prst="ellipse">
            <a:avLst/>
          </a:prstGeom>
          <a:solidFill>
            <a:srgbClr val="FDE9D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48640" y="505663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10" dirty="0"/>
          </a:p>
        </p:txBody>
      </p:sp>
      <p:sp>
        <p:nvSpPr>
          <p:cNvPr id="16" name="Text 14"/>
          <p:cNvSpPr/>
          <p:nvPr/>
        </p:nvSpPr>
        <p:spPr>
          <a:xfrm>
            <a:off x="1280160" y="50017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24,65K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5440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Followers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70248" y="1463040"/>
            <a:ext cx="7425099" cy="4855464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12700">
            <a:solidFill>
              <a:srgbClr val="E2E2E8"/>
            </a:solidFill>
            <a:prstDash val="solid"/>
          </a:ln>
          <a:effectLst>
            <a:outerShdw blurRad="101600" dist="38100" dir="5400000" algn="bl" rotWithShape="0">
              <a:srgbClr val="999999">
                <a:alpha val="3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0" descr="/mnt/user-data/uploads/dashboar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536192"/>
            <a:ext cx="7278795" cy="47091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Airflow — Automatisation du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874520" cy="960120"/>
          </a:xfrm>
          <a:prstGeom prst="roundRect">
            <a:avLst>
              <a:gd name="adj" fmla="val 47619"/>
            </a:avLst>
          </a:prstGeom>
          <a:solidFill>
            <a:srgbClr val="1B1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23160" y="1737360"/>
            <a:ext cx="43045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53614" y="1737360"/>
            <a:ext cx="1874520" cy="960120"/>
          </a:xfrm>
          <a:prstGeom prst="roundRect">
            <a:avLst>
              <a:gd name="adj" fmla="val 47619"/>
            </a:avLst>
          </a:prstGeom>
          <a:solidFill>
            <a:srgbClr val="008C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853614" y="173736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28134" y="1737360"/>
            <a:ext cx="43045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58588" y="1737360"/>
            <a:ext cx="1874520" cy="960120"/>
          </a:xfrm>
          <a:prstGeom prst="roundRect">
            <a:avLst>
              <a:gd name="adj" fmla="val 47619"/>
            </a:avLst>
          </a:prstGeom>
          <a:solidFill>
            <a:srgbClr val="1B1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158588" y="173736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33108" y="1737360"/>
            <a:ext cx="43045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63561" y="1737360"/>
            <a:ext cx="1874520" cy="960120"/>
          </a:xfrm>
          <a:prstGeom prst="roundRect">
            <a:avLst>
              <a:gd name="adj" fmla="val 47619"/>
            </a:avLst>
          </a:prstGeom>
          <a:solidFill>
            <a:srgbClr val="008C8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463561" y="173736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38081" y="1737360"/>
            <a:ext cx="43045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768535" y="1737360"/>
            <a:ext cx="1874520" cy="960120"/>
          </a:xfrm>
          <a:prstGeom prst="roundRect">
            <a:avLst>
              <a:gd name="adj" fmla="val 47619"/>
            </a:avLst>
          </a:prstGeom>
          <a:solidFill>
            <a:srgbClr val="1B1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768535" y="1737360"/>
            <a:ext cx="1874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2926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ETL exécuté et supervisé automatiquement par Apache Airflow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49808" y="4142232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49808" y="41239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210" dirty="0"/>
          </a:p>
        </p:txBody>
      </p:sp>
      <p:sp>
        <p:nvSpPr>
          <p:cNvPr id="23" name="Text 21"/>
          <p:cNvSpPr/>
          <p:nvPr/>
        </p:nvSpPr>
        <p:spPr>
          <a:xfrm>
            <a:off x="1508760" y="397764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du pipeline ETL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989320" y="397764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190488" y="4142232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190488" y="41239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10" dirty="0"/>
          </a:p>
        </p:txBody>
      </p:sp>
      <p:sp>
        <p:nvSpPr>
          <p:cNvPr id="27" name="Text 25"/>
          <p:cNvSpPr/>
          <p:nvPr/>
        </p:nvSpPr>
        <p:spPr>
          <a:xfrm>
            <a:off x="6949440" y="397764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planifiée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49808" y="5285232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49808" y="52669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210" dirty="0"/>
          </a:p>
        </p:txBody>
      </p:sp>
      <p:sp>
        <p:nvSpPr>
          <p:cNvPr id="31" name="Text 29"/>
          <p:cNvSpPr/>
          <p:nvPr/>
        </p:nvSpPr>
        <p:spPr>
          <a:xfrm>
            <a:off x="1508760" y="512064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tâches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989320" y="5120640"/>
            <a:ext cx="5166360" cy="914400"/>
          </a:xfrm>
          <a:prstGeom prst="roundRect">
            <a:avLst>
              <a:gd name="adj" fmla="val 10000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190488" y="5285232"/>
            <a:ext cx="594360" cy="59436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190488" y="526694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10" dirty="0"/>
          </a:p>
        </p:txBody>
      </p:sp>
      <p:sp>
        <p:nvSpPr>
          <p:cNvPr id="35" name="Text 33"/>
          <p:cNvSpPr/>
          <p:nvPr/>
        </p:nvSpPr>
        <p:spPr>
          <a:xfrm>
            <a:off x="6949440" y="512064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erreurs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obtenus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70" dirty="0"/>
          </a:p>
        </p:txBody>
      </p:sp>
      <p:sp>
        <p:nvSpPr>
          <p:cNvPr id="6" name="Text 4"/>
          <p:cNvSpPr/>
          <p:nvPr/>
        </p:nvSpPr>
        <p:spPr>
          <a:xfrm>
            <a:off x="1234440" y="19385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automatisé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26480" y="2011680"/>
            <a:ext cx="502920" cy="50292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126480" y="1993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70" dirty="0"/>
          </a:p>
        </p:txBody>
      </p:sp>
      <p:sp>
        <p:nvSpPr>
          <p:cNvPr id="9" name="Text 7"/>
          <p:cNvSpPr/>
          <p:nvPr/>
        </p:nvSpPr>
        <p:spPr>
          <a:xfrm>
            <a:off x="6812280" y="19385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nettoyées et structurées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1234440" y="28529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optimisé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502920" cy="50292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12648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70" dirty="0"/>
          </a:p>
        </p:txBody>
      </p:sp>
      <p:sp>
        <p:nvSpPr>
          <p:cNvPr id="15" name="Text 13"/>
          <p:cNvSpPr/>
          <p:nvPr/>
        </p:nvSpPr>
        <p:spPr>
          <a:xfrm>
            <a:off x="6812280" y="28529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tableaux de bord interactifs sous Power BI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8640" y="3822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70" dirty="0"/>
          </a:p>
        </p:txBody>
      </p:sp>
      <p:sp>
        <p:nvSpPr>
          <p:cNvPr id="18" name="Text 16"/>
          <p:cNvSpPr/>
          <p:nvPr/>
        </p:nvSpPr>
        <p:spPr>
          <a:xfrm>
            <a:off x="1234440" y="37673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produits, promotions et vendeurs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02920" cy="502920"/>
          </a:xfrm>
          <a:prstGeom prst="ellipse">
            <a:avLst/>
          </a:prstGeom>
          <a:solidFill>
            <a:srgbClr val="DFF4F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126480" y="3822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70" dirty="0"/>
          </a:p>
        </p:txBody>
      </p:sp>
      <p:sp>
        <p:nvSpPr>
          <p:cNvPr id="21" name="Text 19"/>
          <p:cNvSpPr/>
          <p:nvPr/>
        </p:nvSpPr>
        <p:spPr>
          <a:xfrm>
            <a:off x="6812280" y="37673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prise de décision grâce aux indicateurs clés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2E2E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2E2E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ProJet a permis de mettre en place une solution complète de traitement et d'analyse des données, depuis un fichier CSV jusqu'à la création de tableaux de bord interactifs.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L'utilisation de PostgreSQL, Apache Airflow et Power BI a permis d'automatiser le pipeline ETL et de produire des analyses fiables pour faciliter la prise de décision.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BI — Fatima Ezzahra Derrag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2926080"/>
            <a:ext cx="5029200" cy="5029200"/>
          </a:xfrm>
          <a:prstGeom prst="ellipse">
            <a:avLst/>
          </a:prstGeom>
          <a:solidFill>
            <a:srgbClr val="2E2E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828800" y="-2286000"/>
            <a:ext cx="4114800" cy="4114800"/>
          </a:xfrm>
          <a:prstGeom prst="ellipse">
            <a:avLst/>
          </a:prstGeom>
          <a:solidFill>
            <a:srgbClr val="2E2E5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121916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attention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364328" y="3977640"/>
            <a:ext cx="1463040" cy="54864"/>
          </a:xfrm>
          <a:prstGeom prst="rect">
            <a:avLst/>
          </a:prstGeom>
          <a:solidFill>
            <a:srgbClr val="E85D0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698</Words>
  <Application>Microsoft Office PowerPoint</Application>
  <PresentationFormat>Grand écran</PresentationFormat>
  <Paragraphs>242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fatima ezzahra</cp:lastModifiedBy>
  <cp:revision>4</cp:revision>
  <dcterms:created xsi:type="dcterms:W3CDTF">2026-08-03T12:07:43Z</dcterms:created>
  <dcterms:modified xsi:type="dcterms:W3CDTF">2026-08-03T14:04:56Z</dcterms:modified>
</cp:coreProperties>
</file>